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237E"/>
            </a:gs>
            <a:gs pos="100000">
              <a:srgbClr val="673AB7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45720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097280" cy="1097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400" b="1">
                <a:solidFill>
                  <a:srgbClr val="3F51B5"/>
                </a:solidFill>
              </a:defRPr>
            </a:pPr>
            <a:r>
              <a:t>I2A2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VALIDADOR FISCAL NFS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4747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FF"/>
                </a:solidFill>
              </a:defRPr>
            </a:pPr>
            <a:r>
              <a:t>Sistema Inteligente Multi-Agente para Validação Fiscal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438912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696C8"/>
                </a:solidFill>
              </a:defRPr>
            </a:pPr>
            <a:r>
              <a:t>Agentes em Ação | I2A2 Academy |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44336"/>
                </a:solidFill>
              </a:defRPr>
            </a:pPr>
            <a:r>
              <a:t>💥 A DOR SILENCIOSA DAS EMPRESAS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828800"/>
            <a:ext cx="25603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/>
            </a:pPr>
            <a:r>
              <a:t>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8346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44336"/>
                </a:solidFill>
              </a:defRPr>
            </a:pPr>
            <a:r>
              <a:t>PREJUÍZO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2918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12121"/>
                </a:solidFill>
              </a:defRPr>
            </a:pPr>
            <a:r>
              <a:t>Erros custam bilhões em multas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828800"/>
            <a:ext cx="25603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01168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/>
            </a:pPr>
            <a:r>
              <a:t>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8346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9800"/>
                </a:solidFill>
              </a:defRPr>
            </a:pPr>
            <a:r>
              <a:t>TEMPO PERDIDO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2918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12121"/>
                </a:solidFill>
              </a:defRPr>
            </a:pPr>
            <a:r>
              <a:t>70% do tempo em validação manual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828800"/>
            <a:ext cx="25603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9" y="201168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/>
            </a:pPr>
            <a: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9" y="28346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F51B5"/>
                </a:solidFill>
              </a:defRPr>
            </a:pPr>
            <a:r>
              <a:t>SEM ACESSO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9" y="32918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12121"/>
                </a:solidFill>
              </a:defRPr>
            </a:pPr>
            <a:r>
              <a:t>PMEs não têm ferramentas profissionais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7548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i="1">
                <a:solidFill>
                  <a:srgbClr val="212121"/>
                </a:solidFill>
              </a:defRPr>
            </a:pPr>
            <a:r>
              <a:t>"Inconsistências fiscais são a 2ª maior causa de falência de PMEs no Brasil"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3F51B5"/>
            </a:gs>
            <a:gs pos="100000">
              <a:srgbClr val="673AB7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✨ NOSSA SOLUÇÃO: 100% AUTOMATIZADA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645920"/>
            <a:ext cx="82296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201168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🎯 7 Agentes Especializados trabalhando 24/7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📄 Lê XML, PDF, CSV e até IMAGENS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💰 Calcula TODOS os impostos (legados + reforma)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🔍 Detecta divergências automaticamente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📊 Dashboard + Excel + Chat Fiscal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⚡ Resultado em 30-90 segundos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t>🎯 MERCADO GIGANTE E CRESCENTE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22860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828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286000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3F51B5"/>
                </a:solidFill>
              </a:defRPr>
            </a:pPr>
            <a:r>
              <a:t>18M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88036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Empresas no Brasil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1645920"/>
            <a:ext cx="22860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1828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286000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4CAF50"/>
                </a:solidFill>
              </a:defRPr>
            </a:pPr>
            <a:r>
              <a:t>4.8B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88036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NF-e emitidas/ano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645920"/>
            <a:ext cx="22860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828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286000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673AB7"/>
                </a:solidFill>
              </a:defRPr>
            </a:pPr>
            <a:r>
              <a:t>R$ 45B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88036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Mercado compliance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1645920"/>
            <a:ext cx="22860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828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286000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9800"/>
                </a:solidFill>
              </a:defRPr>
            </a:pPr>
            <a:r>
              <a:t>70%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88036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Crescimento anual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237E"/>
                </a:solidFill>
              </a:defRPr>
            </a:pPr>
            <a:r>
              <a:t>PÚBLICO-ALVO PRIORITÁRIO: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4805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PMEs: 6.4M necessitam automatização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4480560"/>
            <a:ext cx="7315200" cy="365760"/>
          </a:xfrm>
          <a:prstGeom prst="round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51206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Escritórios Contábeis: 500K buscam eficiência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5120640"/>
            <a:ext cx="5486400" cy="3657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57607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Grandes Empresas: Departamentos fiscais complexos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5760720"/>
            <a:ext cx="3657600" cy="365760"/>
          </a:xfrm>
          <a:prstGeom prst="round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5F5F5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1A237E"/>
                </a:solidFill>
              </a:defRPr>
            </a:pPr>
            <a:r>
              <a:t>⚙️ COMO FUNCIONA EM 5 PASSOS</a:t>
            </a:r>
          </a:p>
        </p:txBody>
      </p:sp>
      <p:sp>
        <p:nvSpPr>
          <p:cNvPr id="3" name="Oval 2"/>
          <p:cNvSpPr/>
          <p:nvPr/>
        </p:nvSpPr>
        <p:spPr>
          <a:xfrm>
            <a:off x="1325880" y="1828800"/>
            <a:ext cx="731520" cy="731520"/>
          </a:xfrm>
          <a:prstGeom prst="ellipse">
            <a:avLst/>
          </a:prstGeom>
          <a:solidFill>
            <a:srgbClr val="3F51B5"/>
          </a:solidFill>
          <a:ln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1828800"/>
            <a:ext cx="73152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926080"/>
            <a:ext cx="1005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F51B5"/>
                </a:solidFill>
              </a:defRPr>
            </a:pPr>
            <a:r>
              <a:t>UPLOAD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12121"/>
                </a:solidFill>
              </a:defRPr>
            </a:pPr>
            <a:r>
              <a:t>Arraste arquivo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43200" y="2103120"/>
            <a:ext cx="457200" cy="274320"/>
          </a:xfrm>
          <a:prstGeom prst="rightArrow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520440" y="1828800"/>
            <a:ext cx="731520" cy="731520"/>
          </a:xfrm>
          <a:prstGeom prst="ellipse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828800"/>
            <a:ext cx="73152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926080"/>
            <a:ext cx="1005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56616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CAF50"/>
                </a:solidFill>
              </a:defRPr>
            </a:pPr>
            <a:r>
              <a:t>LEITURA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93192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12121"/>
                </a:solidFill>
              </a:defRPr>
            </a:pPr>
            <a:r>
              <a:t>IA extrai dados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937760" y="2103120"/>
            <a:ext cx="457200" cy="274320"/>
          </a:xfrm>
          <a:prstGeom prst="rightArrow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15000" y="1828800"/>
            <a:ext cx="731520" cy="731520"/>
          </a:xfrm>
          <a:prstGeom prst="ellipse">
            <a:avLst/>
          </a:prstGeom>
          <a:solidFill>
            <a:srgbClr val="673AB7"/>
          </a:solidFill>
          <a:ln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5000" y="1828800"/>
            <a:ext cx="73152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2926080"/>
            <a:ext cx="1005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56616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73AB7"/>
                </a:solidFill>
              </a:defRPr>
            </a:pPr>
            <a:r>
              <a:t>CÁLCULO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93192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12121"/>
                </a:solidFill>
              </a:defRPr>
            </a:pPr>
            <a:r>
              <a:t>7 agentes trabalham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32320" y="2103120"/>
            <a:ext cx="457200" cy="274320"/>
          </a:xfrm>
          <a:prstGeom prst="rightArrow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09559" y="1828800"/>
            <a:ext cx="731520" cy="731520"/>
          </a:xfrm>
          <a:prstGeom prst="ellipse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9559" y="1828800"/>
            <a:ext cx="73152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399" y="2926080"/>
            <a:ext cx="1005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199" y="356616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9800"/>
                </a:solidFill>
              </a:defRPr>
            </a:pPr>
            <a:r>
              <a:t>VALIDAÇÃO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199" y="393192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12121"/>
                </a:solidFill>
              </a:defRPr>
            </a:pPr>
            <a:r>
              <a:t>Compara valores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326879" y="2103120"/>
            <a:ext cx="457200" cy="274320"/>
          </a:xfrm>
          <a:prstGeom prst="rightArrow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104120" y="1828800"/>
            <a:ext cx="731520" cy="731520"/>
          </a:xfrm>
          <a:prstGeom prst="ellipse">
            <a:avLst/>
          </a:prstGeom>
          <a:solidFill>
            <a:srgbClr val="F44336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04120" y="1828800"/>
            <a:ext cx="73152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2926080"/>
            <a:ext cx="1005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356616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44336"/>
                </a:solidFill>
              </a:defRPr>
            </a:pPr>
            <a:r>
              <a:t>RELATÓRIO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393192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12121"/>
                </a:solidFill>
              </a:defRPr>
            </a:pPr>
            <a:r>
              <a:t>Dashboard pronto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0292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4CAF50"/>
                </a:solidFill>
              </a:defRPr>
            </a:pPr>
            <a:r>
              <a:t>⏱️ TEMPO TOTAL: 30-90 SEGUNDOS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1A237E"/>
                </a:solidFill>
              </a:defRPr>
            </a:pPr>
            <a:r>
              <a:t>🚀 ARQUITETURA MULTI-AGENTE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0" y="2286000"/>
            <a:ext cx="2743200" cy="1097280"/>
          </a:xfrm>
          <a:prstGeom prst="round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0" y="2286000"/>
            <a:ext cx="2743200" cy="1097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🧑‍⚖️ SUPERVISOR</a:t>
            </a:r>
          </a:p>
          <a:p>
            <a:r>
              <a:t>Orquestra Tudo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2011680" cy="731520"/>
          </a:xfrm>
          <a:prstGeom prst="round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201168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🧠 Reader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114800"/>
            <a:ext cx="2011680" cy="731520"/>
          </a:xfrm>
          <a:prstGeom prst="round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114800"/>
            <a:ext cx="201168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🗺️ Matriz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371600"/>
            <a:ext cx="2011680" cy="731520"/>
          </a:xfrm>
          <a:prstGeom prst="round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1371600"/>
            <a:ext cx="201168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🏭 Tax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4114800"/>
            <a:ext cx="2011680" cy="731520"/>
          </a:xfrm>
          <a:prstGeom prst="roundRect">
            <a:avLst/>
          </a:prstGeom>
          <a:solidFill>
            <a:srgbClr val="67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4114800"/>
            <a:ext cx="201168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🏛️ Reforma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5303520"/>
            <a:ext cx="2011680" cy="731520"/>
          </a:xfrm>
          <a:prstGeom prst="roundRect">
            <a:avLst/>
          </a:prstGeom>
          <a:solidFill>
            <a:srgbClr val="5C6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5303520"/>
            <a:ext cx="201168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📌 Consolidador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5303520"/>
            <a:ext cx="2011680" cy="731520"/>
          </a:xfrm>
          <a:prstGeom prst="roundRect">
            <a:avLst/>
          </a:prstGeom>
          <a:solidFill>
            <a:srgbClr val="F44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5303520"/>
            <a:ext cx="201168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🚨 Divergências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12121"/>
                </a:solidFill>
              </a:defRPr>
            </a:pPr>
            <a:r>
              <a:t>CrewAI • Claude Sonnet 4 • GPT-4 • Streamlit • Python 3.11 • Open Source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4CAF50"/>
            </a:gs>
            <a:gs pos="100000">
              <a:srgbClr val="8BC34A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📈 RESULTADOS COMPROVADOS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2011680"/>
            <a:ext cx="36576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0" y="21945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/>
            </a:pPr>
            <a:r>
              <a:t>⏱️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28600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4CAF50"/>
                </a:solidFill>
              </a:defRPr>
            </a:pPr>
            <a:r>
              <a:t>70%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1089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12121"/>
                </a:solidFill>
              </a:defRPr>
            </a:pPr>
            <a:r>
              <a:t>Redução de tempo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36576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1945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/>
            </a:pPr>
            <a: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28600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4CAF50"/>
                </a:solidFill>
              </a:defRPr>
            </a:pPr>
            <a:r>
              <a:t>95%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1089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12121"/>
                </a:solidFill>
              </a:defRPr>
            </a:pPr>
            <a:r>
              <a:t>Menos erros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4023360"/>
            <a:ext cx="36576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42062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/>
            </a:pPr>
            <a:r>
              <a:t>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29768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4CAF50"/>
                </a:solidFill>
              </a:defRPr>
            </a:pPr>
            <a:r>
              <a:t>R$ 50K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51206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12121"/>
                </a:solidFill>
              </a:defRPr>
            </a:pPr>
            <a:r>
              <a:t>Economia/ano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023360"/>
            <a:ext cx="36576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42062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/>
            </a:pPr>
            <a:r>
              <a:t>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429768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4CAF50"/>
                </a:solidFill>
              </a:defRPr>
            </a:pPr>
            <a:r>
              <a:t>30s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51206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12121"/>
                </a:solidFill>
              </a:defRPr>
            </a:pPr>
            <a:r>
              <a:t>Processamento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A237E"/>
                </a:solidFill>
              </a:defRPr>
            </a:pPr>
            <a:r>
              <a:t>💰 MODELO SaaS - RECEITA RECORRENTE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88720" y="1645920"/>
            <a:ext cx="301752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645920"/>
            <a:ext cx="3017520" cy="731520"/>
          </a:xfrm>
          <a:prstGeom prst="round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301752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BÁSICO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6032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5C6BC0"/>
                </a:solidFill>
              </a:defRPr>
            </a:pPr>
            <a:r>
              <a:t>R$ 297/mês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291840"/>
            <a:ext cx="24688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✓ Até 100 notas/mês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✓ Dashboard web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✓ Excel export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✓ Email suporte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645920"/>
            <a:ext cx="301752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63440" y="1645920"/>
            <a:ext cx="3017520" cy="73152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645920"/>
            <a:ext cx="301752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56032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4CAF50"/>
                </a:solidFill>
              </a:defRPr>
            </a:pPr>
            <a:r>
              <a:t>R$ 697/mês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3291840"/>
            <a:ext cx="24688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✓ Até 500 notas/mês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✓ Chat fiscal 24/7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✓ Prioridade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✓ Integrações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45920"/>
            <a:ext cx="301752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38160" y="1645920"/>
            <a:ext cx="3017520" cy="731520"/>
          </a:xfrm>
          <a:prstGeom prst="round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645920"/>
            <a:ext cx="301752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ENTERPRISE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56032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673AB7"/>
                </a:solidFill>
              </a:defRPr>
            </a:pPr>
            <a:r>
              <a:t>R$ 1.997/mês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291840"/>
            <a:ext cx="24688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✓ Ilimitado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✓ API dedicada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✓ SLA garantido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✓ Suporte premium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760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A237E"/>
                </a:solidFill>
              </a:defRPr>
            </a:pPr>
            <a:r>
              <a:t>TAM: R$ 15B | SAM: R$ 3.2B | SOM: R$ 450M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5F5F5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1A237E"/>
                </a:solidFill>
              </a:defRPr>
            </a:pPr>
            <a:r>
              <a:t>🗺️ ROADMAP 2025-2027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2286000"/>
            <a:ext cx="8229600" cy="9144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91640" y="2194560"/>
            <a:ext cx="274320" cy="274320"/>
          </a:xfrm>
          <a:prstGeom prst="ellipse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20" y="2926080"/>
            <a:ext cx="16459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30175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4CAF50"/>
                </a:solidFill>
              </a:defRPr>
            </a:pPr>
            <a:r>
              <a:t>Q4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12121"/>
                </a:solidFill>
              </a:defRPr>
            </a:pPr>
            <a:r>
              <a:t>MVP 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749039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12121"/>
                </a:solidFill>
              </a:defRPr>
            </a:pPr>
            <a:r>
              <a:t>10 clientes beta</a:t>
            </a:r>
          </a:p>
        </p:txBody>
      </p:sp>
      <p:sp>
        <p:nvSpPr>
          <p:cNvPr id="9" name="Oval 8"/>
          <p:cNvSpPr/>
          <p:nvPr/>
        </p:nvSpPr>
        <p:spPr>
          <a:xfrm>
            <a:off x="4434840" y="2194560"/>
            <a:ext cx="274320" cy="274320"/>
          </a:xfrm>
          <a:prstGeom prst="ellipse">
            <a:avLst/>
          </a:prstGeom>
          <a:solidFill>
            <a:srgbClr val="3F51B5"/>
          </a:solidFill>
          <a:ln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31920" y="2926080"/>
            <a:ext cx="16459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30175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3F51B5"/>
                </a:solidFill>
              </a:defRPr>
            </a:pPr>
            <a:r>
              <a:t>Q1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338328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12121"/>
                </a:solidFill>
              </a:defRPr>
            </a:pPr>
            <a:r>
              <a:t>Integrações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749039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12121"/>
                </a:solidFill>
              </a:defRPr>
            </a:pPr>
            <a:r>
              <a:t>ERPs</a:t>
            </a:r>
          </a:p>
        </p:txBody>
      </p:sp>
      <p:sp>
        <p:nvSpPr>
          <p:cNvPr id="14" name="Oval 13"/>
          <p:cNvSpPr/>
          <p:nvPr/>
        </p:nvSpPr>
        <p:spPr>
          <a:xfrm>
            <a:off x="6720840" y="2194560"/>
            <a:ext cx="274320" cy="274320"/>
          </a:xfrm>
          <a:prstGeom prst="ellipse">
            <a:avLst/>
          </a:prstGeom>
          <a:solidFill>
            <a:srgbClr val="673AB7"/>
          </a:solidFill>
          <a:ln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2926080"/>
            <a:ext cx="16459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0175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673AB7"/>
                </a:solidFill>
              </a:defRPr>
            </a:pPr>
            <a:r>
              <a:t>Q2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38328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12121"/>
                </a:solidFill>
              </a:defRPr>
            </a:pPr>
            <a:r>
              <a:t>API Pública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749039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12121"/>
                </a:solidFill>
              </a:defRPr>
            </a:pPr>
            <a:r>
              <a:t>Mobile app</a:t>
            </a:r>
          </a:p>
        </p:txBody>
      </p:sp>
      <p:sp>
        <p:nvSpPr>
          <p:cNvPr id="19" name="Oval 18"/>
          <p:cNvSpPr/>
          <p:nvPr/>
        </p:nvSpPr>
        <p:spPr>
          <a:xfrm>
            <a:off x="9006840" y="2194560"/>
            <a:ext cx="274320" cy="274320"/>
          </a:xfrm>
          <a:prstGeom prst="ellipse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03920" y="2926080"/>
            <a:ext cx="16459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30175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9800"/>
                </a:solidFill>
              </a:defRPr>
            </a:pPr>
            <a:r>
              <a:t>2027+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338328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12121"/>
                </a:solidFill>
              </a:defRPr>
            </a:pPr>
            <a:r>
              <a:t>Expansão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3749039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12121"/>
                </a:solidFill>
              </a:defRPr>
            </a:pPr>
            <a:r>
              <a:t>América Latina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1A237E"/>
                </a:solidFill>
              </a:defRPr>
            </a:pPr>
            <a:r>
              <a:t>👥 TIME AGENTES EM AÇÃO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45920" y="1828800"/>
            <a:ext cx="25603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01168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7432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F51B5"/>
                </a:solidFill>
              </a:defRPr>
            </a:pPr>
            <a:r>
              <a:t>Suzy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10896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12121"/>
                </a:solidFill>
              </a:defRPr>
            </a:pPr>
            <a:r>
              <a:t>Tech Lead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828800"/>
            <a:ext cx="25603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201168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⚙️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7432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F51B5"/>
                </a:solidFill>
              </a:defRPr>
            </a:pPr>
            <a:r>
              <a:t>Luciana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310896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12121"/>
                </a:solidFill>
              </a:defRPr>
            </a:pPr>
            <a:r>
              <a:t>Backend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25603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01168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7432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F51B5"/>
                </a:solidFill>
              </a:defRPr>
            </a:pPr>
            <a:r>
              <a:t>Antonio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10896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12121"/>
                </a:solidFill>
              </a:defRPr>
            </a:pPr>
            <a:r>
              <a:t>Fiscal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45920" y="3840480"/>
            <a:ext cx="25603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402336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7548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F51B5"/>
                </a:solidFill>
              </a:defRPr>
            </a:pPr>
            <a:r>
              <a:t>Thiago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12064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12121"/>
                </a:solidFill>
              </a:defRPr>
            </a:pPr>
            <a:r>
              <a:t>Frontend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3840480"/>
            <a:ext cx="25603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402336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☁️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47548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F51B5"/>
                </a:solidFill>
              </a:defRPr>
            </a:pPr>
            <a:r>
              <a:t>Jairo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512064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12121"/>
                </a:solidFill>
              </a:defRPr>
            </a:pPr>
            <a:r>
              <a:t>DevOps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840480"/>
            <a:ext cx="25603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402336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7548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F51B5"/>
                </a:solidFill>
              </a:defRPr>
            </a:pPr>
            <a:r>
              <a:t>Davi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512064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12121"/>
                </a:solidFill>
              </a:defRPr>
            </a:pPr>
            <a:r>
              <a:t>QA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669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12121"/>
                </a:solidFill>
              </a:defRPr>
            </a:pPr>
            <a:r>
              <a:t>🎓 Formados no I2A2 - Agentes Autônomos com Redes Generativas</a:t>
            </a:r>
          </a:p>
          <a:p>
            <a:r>
              <a:t>Parceria Meta + I2A2 Academy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237E"/>
            </a:gs>
            <a:gs pos="100000">
              <a:srgbClr val="673AB7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🚀 VAMOS AUTOMATIZAR</a:t>
            </a:r>
          </a:p>
          <a:p>
            <a:r>
              <a:t>O FUTURO FISCAL!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384048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📧 challenges@i2a2.academy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🐙 github.com/suzyped/validador-fiscal-nfs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💬 Solicite acesso ao piloto beta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57607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C8C8FF"/>
                </a:solidFill>
              </a:defRPr>
            </a:pPr>
            <a:r>
              <a:t>"Agente inteligente, empresa eficiente."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